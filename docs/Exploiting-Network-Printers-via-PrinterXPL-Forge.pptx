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00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600" b="1">
                <a:solidFill>
                  <a:srgbClr val="00CC44"/>
                </a:solidFill>
                <a:latin typeface="Calibri"/>
              </a:rPr>
              <a:t>Exploiting Network Printers via PrinterXPL-Forge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88136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A comprehensive survey of printer attack vectors from 2002 to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611880"/>
            <a:ext cx="3657600" cy="45720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10881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André Henrique (@mrhenrike) | União Geek
2025  ·  3.14.0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github.com/mrhenrike/PrinterXPL-Forge  ·  MIT License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77240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24712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124712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Why Printers?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72184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472184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Yet Another T in the IoT?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9656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819656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How to Print?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67128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67128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What to Attack?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514600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Printer Languages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62072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862072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Network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09544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08.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09544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Attacker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57016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09.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557016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Four Attack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04488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904488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DoS Attacks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51960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51960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Protection Bypass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777240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12.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777240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Print Job Manipulation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124712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13.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1124712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Information Disclosure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472184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1472184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Network Attacks (Extended)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19656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1819656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Windows Print Spooler Attacks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167128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16.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2167128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Updated Attack Matrix (2025)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2514600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17.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2514600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PrinterXPL-Forge Architecture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862072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18.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2862072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PRET Architecture Reference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209544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19.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3209544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Tool Comparison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557016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20.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3557016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Countermeasures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904488"/>
            <a:ext cx="502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CC44"/>
                </a:solidFill>
                <a:latin typeface="Calibri"/>
              </a:rPr>
              <a:t>21.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904488"/>
            <a:ext cx="5029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 / 38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Abstract: The Overlooked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Network printers are a consistently overlooked attack surface in enterprises.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Millions of devices are exposed directly to the internet (700k+ HP LaserJets).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This research surveys the entire attack landscape: languages, protocols, and classes.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Introducing PrinterXPL-Forge: a modular Python 3 framework for automation.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Automates discovery, fingerprinting, and exploitation with 93 modules.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5079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4164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Backed by a catalogue of 50+ CVEs spanning from 2002 to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 / 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Why Printers?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Key Properties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Always-on, rarely patched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No EDR or 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Turing-complete languages (PostScript)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Trusted internal network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47872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Rich data store (creds, jobs, contacts)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749808"/>
            <a:ext cx="27432" cy="5715000"/>
          </a:xfrm>
          <a:prstGeom prst="rect">
            <a:avLst/>
          </a:prstGeom>
          <a:solidFill>
            <a:srgbClr val="334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Shodan Dorks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`HP LaserJet` → 700,000+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`"Ricoh Aficio"` → 120,000+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`"Brother MFC"` → 200,000+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`port:9100 "PJL"` → Raw JetDirect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547872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`port:631 "CUPS"` → IPP servers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4 / 38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Printers are Embedded Computers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Yet Another 'T' in the IoT?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CPU: ARM Cortex-A or MIPS (500 MHz–1 GHz)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0136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OS: Embedded Linux, VxWorks, or proprietary RTOS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5973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5059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Memory: 128 MB–2 GB 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1810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Stack: Full TCP/IP, web server, SNMP, SMB, FTP, LDAP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7647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6732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Languages: PostScript, PJL, PCL interpreters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43484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2569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Attack surface is equivalent to a low-power Linux server with no security.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5 / 38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How to Print?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Printing Channels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RAW / JetDirect (TCP/9100) - No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IPP (TCP/631) - HTTP-based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LPD (TCP/515) - Legacy UNIX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SMB (TCP/445) - Windows printing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47872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HTTP (TCP/80) - Web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11480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FTP (TCP/21) - Firmware/files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749808"/>
            <a:ext cx="27432" cy="5715000"/>
          </a:xfrm>
          <a:prstGeom prst="rect">
            <a:avLst/>
          </a:prstGeom>
          <a:solidFill>
            <a:srgbClr val="334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Printer Languages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PJL: Job control, filesystem access (Critical)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PostScript: Turing-complete language (Critical)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PCL: Page layout, limited macros (Medium)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PDF: Rendered by Ghostscript (Medium)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47872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ESC/P: Epson bitmap control (Low)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6 / 38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What to Attack?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A survey of the primary attack vectors and protocols.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7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Printer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The Turing-complete brains behind the brawn.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8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PJL: The OS-Level Control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828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888888"/>
                </a:solidFill>
                <a:latin typeface="Calibri"/>
              </a:rPr>
              <a:t>[pjl]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30000" cy="5623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4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none"/>
          <a:lstStyle/>
          <a:p>
            <a:r>
              <a:rPr sz="1250">
                <a:solidFill>
                  <a:srgbClr val="58A6FF"/>
                </a:solidFill>
                <a:latin typeface="Consolas"/>
              </a:rPr>
              <a:t>@PJL INFO ID
@PJL FSDIRLIST NAME="0:\" ENTRY=1 COUNT=65535
@PJL FSDOWNLOAD FORMAT:BINARY SIZE=512 NAME="0:\etc\passwd"
@PJL FSUPLOAD FORMAT:BINARY SIZE=1024 NAME="0:\evil.pjl"
@PJL DEFAULT COPIES=9999
@PJL SET SERVICEPASSWORD=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888888"/>
                </a:solidFill>
                <a:latin typeface="Calibri"/>
              </a:rPr>
              <a:t>📝 PJL is not just for job control. It provides direct access to the printer's filesystem, NVRAM, and configuration settings, making it a primary vector for attacks.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9 / 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PostScript: The Turing-Complete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828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888888"/>
                </a:solidFill>
                <a:latin typeface="Calibri"/>
              </a:rPr>
              <a:t>[postscript]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30000" cy="5623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4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none"/>
          <a:lstStyle/>
          <a:p>
            <a:r>
              <a:rPr sz="1250">
                <a:solidFill>
                  <a:srgbClr val="58A6FF"/>
                </a:solidFill>
                <a:latin typeface="Consolas"/>
              </a:rPr>
              <a:t>% Read /etc/passwd
(%rom0%/etc/passwd) (r) file { dup read { } { pop exit } ifelse } loop
% Execute system command (some implementations)
(%pipe%id) (r) file
% DoS - infinite loop
{}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888888"/>
                </a:solidFill>
                <a:latin typeface="Calibri"/>
              </a:rPr>
              <a:t>📝 PostScript is a full programming language. This allows for complex logic, file I/O, and even network connections on some devices, far beyond simple page rendering.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10 / 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Other Languages: PCL, PDF, ESC/P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PCL (Printer Control Language) is less powerful but supports macros.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Some PCL parsers are vulnerable to buffer overflows (CVE-2025-14235).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PDF files are rendered by an embedded Ghostscript interpreter.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Vulnerabilities in the Ghostscript engine can be triggered via PDF.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ESC/P is a low-risk language for Epson bitmap control.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11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Network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The highways for delivering malicious payloads.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12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Key Protocols: RAW/9100 &amp; IPP/631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RAW / JetDirect (Port 9100) is the most dangerous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It accepts raw print data with no authentication by default.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Any data sent is directly interpreted by the PJL/PostScript engine.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IPP (Port 631) is HTTP-based and more complex.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The 2024 CUPS/IPP RCE chain allows unauthenticated remote code execution.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5079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4164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IPP can also be abused for Server-Side Request Forgery (SSRF).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13 / 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Other Protocols: LPD, SNMP, SMB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LPD (Port 515) is a legacy UNIX protocol with no authentication.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SNMP (UDP/161) exposes extensive device info via MIBs.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Default SNMP community strings ('public') are common.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SMB (Port 445) is used for Windows printing and scan-to-share.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This exposes printers to PrintNightmare and NTLM relay attacks.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14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Attacker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Analyzing threats from physical, network, and web vectors.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15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Attacker Models Explained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Physical &amp; Network Attacker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Physical: Access via USB or control panel to retrieve stored jobs.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Network: The primary model for remote attacks.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Attacker is on the same LAN or pivots from a compromised host.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Directly sends PJL/PS payloads to port 9100/631.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749808"/>
            <a:ext cx="27432" cy="5715000"/>
          </a:xfrm>
          <a:prstGeom prst="rect">
            <a:avLst/>
          </a:prstGeom>
          <a:solidFill>
            <a:srgbClr val="334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Web / Browser Attacker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Leverages Cross-Site Printing (XSP).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A malicious webpage uses JavaScript to scan the victim's LAN.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CORS XHR requests discover printers on ports 9100/631.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The victim's browser is used as a proxy to attack internal printers.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16 / 38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Attack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Categorizing printer exploits from DoS to 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17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Attack Classes Explained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Original Classes (Müller et al.)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1. Denial of Service: Crashing or bricking the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2. Protection Bypass: Factory resets, password clearing.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3. Print Job Manipulation: Capturing, modifying, replaying jobs.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4. Information Disclosure: Dumping files, config, and stored jobs.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749808"/>
            <a:ext cx="27432" cy="5715000"/>
          </a:xfrm>
          <a:prstGeom prst="rect">
            <a:avLst/>
          </a:prstGeom>
          <a:solidFill>
            <a:srgbClr val="334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777240"/>
            <a:ext cx="5577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0CC44"/>
                </a:solidFill>
                <a:latin typeface="Calibri"/>
              </a:rPr>
              <a:t>Extended Classes (2022-2025)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07008"/>
            <a:ext cx="5486400" cy="27432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280160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5. Credential Harvesting: LDAP pass-back, NTLM coercion.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47088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6. Remote Code Execution: CUPS/IPP chain, command injection.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414016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7. Firmware Attacks: Downgrades, persistence, rootkits.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980944"/>
            <a:ext cx="5577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 8. Lateral Movement: SSRF, WSD pivoting.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18 / 38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Class 1: Denial of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Attacks designed to crash, brick, or disable printers.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19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DoS Payloads: PS &amp; PJL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828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888888"/>
                </a:solidFill>
                <a:latin typeface="Calibri"/>
              </a:rPr>
              <a:t>[text]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30000" cy="5623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4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none"/>
          <a:lstStyle/>
          <a:p>
            <a:r>
              <a:rPr sz="1250">
                <a:solidFill>
                  <a:srgbClr val="58A6FF"/>
                </a:solidFill>
                <a:latin typeface="Consolas"/>
              </a:rPr>
              <a:t>% PostScript Infinite Loop (CPU DoS)
{} loop
@PJL DEFAULT COPIES=9999
@PJL DEFAULT MEDIASIZE=LEGAL
@PJL DEFAULT DUPLEX=ON
... (repeated 10,000 times for NVRAM exhaustion)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888888"/>
                </a:solidFill>
                <a:latin typeface="Calibri"/>
              </a:rPr>
              <a:t>📝 A simple PostScript infinite loop can lock up the printer, requiring a power cycle. Repeatedly writing to NVRAM with PJL can cause permanent hardware failure on some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20 / 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Class 2: Protection Bypass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Resetting passwords and circumventing security controls.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21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Bypass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PJL DMCMD: A single command can factory reset the device, wiping all passwords.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LDAP Pass-Back: Force the printer to authenticate to a rogue LDAP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This captures admin credentials in plaintext.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SNMP Reset: Some vendors allow a factory reset via a specific SNMP OID.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PJL Service Password Clear: A dedicated PJL command to clear service passwords.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22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Class 3: Print Job Manipulation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Passive Capture: Sniff traffic on ports 9100/515 to capture raw print jobs.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Active Manipulation: Intercept and modify jobs in transit.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PostScript Hooking: Redefine the `showpage` command to save a copy of all jobs.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The hooked function can exfiltrate the job data over the network.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Stored Job Retrieval: Access jobs stored on the printer's internal flash/HDD.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23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Class 4: Information Disclosure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Extracting sensitive data from the printer's memory and filesystem.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24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Disclosure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PJL Filesystem Access: Commands like `FSDIRLIST` and `FSDOWNLOAD` read any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Common targets: `/etc/shadow`, config files, stored print jobs.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PostScript File I/O: Use PostScript's file operators to read files.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SNMP MIB Dump: The SNMP MIB contains serial numbers, firmware, and network config.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Address Book Extraction: Scrape email addresses and user info from the web UI.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25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Modern Network Attacks (2022-2025)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Advanced techniques for RCE, credential theft, and lateral movement.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26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SSRF and Remote Code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SSRF via IPP: A malicious IPP request can force the printer to connect.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The printer acts as a proxy to scan or attack internal network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CUPS/IPP RCE Chain (2024): A series of CVEs for unauthenticated 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An attacker sends a UDP packet, tricking `cups-browsed` to connect 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The attacker's rogue IPP server provides a payload, leading to RCE as `lp` user.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27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Pivoting and Client-Side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Cross-Site Printing (XSP): A victim's browser attacks the internal network.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Malicious JavaScript scans the LAN and sends print jobs from the browser.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WSD Discovery: Passively discover printers via UDP/3702 announcements.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NTLM Coercion: Force the printer to authenticate to an attacker's SMB server.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This captures the printer's NTLMv2 hash for offline cracking or relaying.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28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0" b="1">
                <a:solidFill>
                  <a:srgbClr val="008833"/>
                </a:solidFill>
                <a:latin typeface="Calibri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Print Spooler Attacks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CCFFCC"/>
                </a:solidFill>
                <a:latin typeface="Calibri"/>
              </a:rPr>
              <a:t>When the client is more vulnerable than the printer.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29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Key Spooler Vulns: RCE &amp; LPE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58952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PrintNightmare (CVE-2021-34527): The most infamous spooler vulnerability.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Allows any authenticated user to achieve SYSTEM-level RCE on a remote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75688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4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The attack involves installing a malicious printer driver.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4912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SpoolFool (CVE-2022-21999): A Local Privilege Escalation (LPE) vulnerability.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92424"/>
            <a:ext cx="320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CC44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11155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Exploits a race condition to gain SYSTEM privileges from a low-priv user.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30 / 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Timeline of Spooler Vulnerabilities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34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CVE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12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0098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3562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1540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7026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CVSS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CVE-2021-36958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098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026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7.3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CVE-2022-30206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0098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562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LPE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026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7.8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CVE-2022-38028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612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0098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2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LPE (APT28)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40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026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7.8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CVE-2023-21678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612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0098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LPE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40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7026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7.8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31 / 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Updated Attack Matrix (2025)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34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Vendor /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67132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618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3116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602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Reset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100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4586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Job Capture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5084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570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FS Enum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1068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554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Cred Harvest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052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538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CUPS 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036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522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LDAP P-B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90200" y="749808"/>
            <a:ext cx="12598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5064" y="77724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Firmware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HP LaserJet (all)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7132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2618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3116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8602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586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5084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0570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1068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554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052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2538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036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522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90200" y="1225296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45064" y="125272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Xerox WorkCentre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7132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2618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3116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8602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9100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586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5084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0570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1068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554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7052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2538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3036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8522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90200" y="1700784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45064" y="172821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634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Ricoh Aficio/MP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7132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2618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3116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8602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9100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4586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5084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50570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068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6554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7052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538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036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8522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490200" y="2176272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45064" y="220370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634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Canon iR-ADV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7132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2618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3116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8602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9100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4586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5084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0570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1068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6554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7052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2538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23036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28522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490200" y="2651760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45064" y="2679192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1148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6634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Brother MFC/HL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67132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72618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93116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98602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19100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4586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5084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50570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71068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76554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97052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2538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036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8522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490200" y="3127248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545064" y="3154680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1148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6634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Lexmark (all)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67132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72618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93116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98602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9100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24586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5084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50570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71068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76554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97052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2538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23036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28522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490200" y="3602736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545064" y="3630168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1148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6634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PaperCut NG/MF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67132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72618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93116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98602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19100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24586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45084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50570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71068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76554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97052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02538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23036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28522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490200" y="4078224"/>
            <a:ext cx="12598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45064" y="4105656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1148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6634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CUPS (Linux)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67132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72618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3116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98602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19100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4586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45084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50570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71068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76554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97052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02538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23036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28522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0490200" y="4553712"/>
            <a:ext cx="12598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0545064" y="4581144"/>
            <a:ext cx="11501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32 / 38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Notable Recent CVEs by Vendor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49808"/>
            <a:ext cx="2267712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344" y="77724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CVE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679192" y="749808"/>
            <a:ext cx="2267712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34056" y="77724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Vendor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946904" y="749808"/>
            <a:ext cx="2267712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1768" y="77724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14616" y="749808"/>
            <a:ext cx="2267712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77724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82328" y="749808"/>
            <a:ext cx="2267712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77724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CVSS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225296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" y="125272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CVE-2024-47176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1225296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4056" y="125272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CUPS/IPP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46904" y="1225296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1768" y="125272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14616" y="1225296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25272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RCE chain (unauth)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225296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25272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9.9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1700784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" y="172821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CVE-2024-6333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9192" y="1700784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34056" y="172821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Xerox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46904" y="1700784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1768" y="172821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14616" y="1700784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80" y="172821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Command Injection RCE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82328" y="1700784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7192" y="172821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2176272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" y="220370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CVE-2024-51978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9192" y="2176272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34056" y="220370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Brother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46904" y="2176272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1768" y="220370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14616" y="2176272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220370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Default password derivation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82328" y="2176272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37192" y="220370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7.5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2651760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" y="2679192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CVE-2025-26506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79192" y="2651760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34056" y="2679192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HP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46904" y="2651760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01768" y="2679192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14616" y="2651760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9480" y="2679192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XPS buffer overflow RCE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82328" y="2651760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7192" y="2679192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8.8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127248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6344" y="315468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CVE-2025-14235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79192" y="3127248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34056" y="315468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Canon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46904" y="3127248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01768" y="315468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214616" y="3127248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69480" y="315468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PCL buffer overflow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82328" y="3127248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7192" y="3154680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8.8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3602736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6344" y="363016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CVE-2023-26067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79192" y="3602736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34056" y="363016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Lexmark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46904" y="3602736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01768" y="363016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14616" y="3602736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69480" y="363016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SSRF → RCE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82328" y="3602736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7192" y="3630168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8.0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4078224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6344" y="410565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CVE-2022-21999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79192" y="4078224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34056" y="410565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46904" y="4078224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01768" y="410565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14616" y="4078224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69480" y="410565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SpoolFool LPE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482328" y="4078224"/>
            <a:ext cx="2267712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37192" y="4105656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7.8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4553712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6344" y="458114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CVE-2021-34527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79192" y="4553712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34056" y="458114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946904" y="4553712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01768" y="458114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2021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14616" y="4553712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69480" y="458114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PrintNightmare RCE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482328" y="4553712"/>
            <a:ext cx="2267712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537192" y="4581144"/>
            <a:ext cx="21579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8.8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33 / 38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PrinterXPL-Forge Architecture</a:t>
            </a:r>
          </a:p>
        </p:txBody>
      </p:sp>
      <p:pic>
        <p:nvPicPr>
          <p:cNvPr id="4" name="Picture 3" descr="print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77240"/>
            <a:ext cx="10332720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888888"/>
                </a:solidFill>
                <a:latin typeface="Calibri"/>
              </a:rPr>
              <a:t>A modular Python 3 framework with distinct layers for UI, core logic, protocols, exploit modules, and data sources like CVE catalogs.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34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PRET vs. PrinterXPL-Forge</a:t>
            </a:r>
          </a:p>
        </p:txBody>
      </p:sp>
      <p:pic>
        <p:nvPicPr>
          <p:cNvPr id="4" name="Picture 3" descr="PrinterXPL-Forge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77240"/>
            <a:ext cx="10332720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888888"/>
                </a:solidFill>
                <a:latin typeface="Calibri"/>
              </a:rPr>
              <a:t>PrinterXPL-Forge is a modern successor to PRET, rewritten in Python 3 with an expanded protocol/language set, 93 exploit modules, and a full CVE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35 /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Tool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34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12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0098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Author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3562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Technique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15400" y="749808"/>
            <a:ext cx="283464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70264" y="777240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Status / Integration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PRET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098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Müller et 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Interactive PJL/PS/PCL shell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1225296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0264" y="1252728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Unmaintained; foundation for this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Praeda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0098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percx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562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HTTP-based credential harvester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700784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0264" y="1728216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117 fingerprints integrated into this tool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612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0098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Phenoelit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2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Low-level PJL/PS fuzzer (2002)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400" y="2176272"/>
            <a:ext cx="283464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0264" y="2203704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Pioneered printer DoS research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BeEF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612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0098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Wade Alcorn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Browser exploitation framework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400" y="2651760"/>
            <a:ext cx="283464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70264" y="2679192"/>
            <a:ext cx="272491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CORS scanning technique used for XSP module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36 / 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CC44"/>
                </a:solidFill>
                <a:latin typeface="Calibri"/>
              </a:rPr>
              <a:t>Countermeasures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49808"/>
            <a:ext cx="377952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344" y="777240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91000" y="749808"/>
            <a:ext cx="377952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45864" y="777240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Measure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0520" y="749808"/>
            <a:ext cx="3779520" cy="475488"/>
          </a:xfrm>
          <a:prstGeom prst="rect">
            <a:avLst/>
          </a:prstGeom>
          <a:solidFill>
            <a:srgbClr val="006028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5384" y="777240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CC44"/>
                </a:solidFill>
                <a:latin typeface="Calibri"/>
              </a:rPr>
              <a:t>Priority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25296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" y="1252728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1000" y="1225296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5864" y="1252728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VLAN-isolate all printers; block port 9100 from internet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0520" y="1225296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5384" y="1252728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700784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" y="1728216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Network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1000" y="1700784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5864" y="1728216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Firewall rules: deny printer→LDAP/SMTP unless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0520" y="1700784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5384" y="1728216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176272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" y="2203704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Configuration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91000" y="2176272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5864" y="2203704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Change default admin credentials; enforce complexity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0520" y="2176272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25384" y="2203704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651760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" y="2679192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Configuration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91000" y="2651760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45864" y="2679192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Disable PostScript and PJL if not needed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70520" y="2651760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25384" y="2679192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127248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" y="3154680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91000" y="3127248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45864" y="3154680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Apply PrintNightmare patches immediately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0520" y="3127248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25384" y="3154680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602736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" y="3630168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Firmware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91000" y="3602736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5864" y="3630168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Subscribe to vendor advisories; patch promptly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70520" y="3602736"/>
            <a:ext cx="3779520" cy="475488"/>
          </a:xfrm>
          <a:prstGeom prst="rect">
            <a:avLst/>
          </a:prstGeom>
          <a:solidFill>
            <a:srgbClr val="1A221A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25384" y="3630168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078224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" y="4105656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91000" y="4078224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45864" y="4105656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Log print jobs; alert on PJL filesystem commands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0520" y="4078224"/>
            <a:ext cx="3779520" cy="475488"/>
          </a:xfrm>
          <a:prstGeom prst="rect">
            <a:avLst/>
          </a:prstGeom>
          <a:solidFill>
            <a:srgbClr val="10101C"/>
          </a:solidFill>
          <a:ln w="6350">
            <a:solidFill>
              <a:srgbClr val="223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25384" y="4105656"/>
            <a:ext cx="36697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37 / 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Thank You &amp;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>
                <a:solidFill>
                  <a:srgbClr val="CCFFCC"/>
                </a:solidFill>
                <a:latin typeface="Calibri"/>
              </a:rPr>
              <a:t>André Henrique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>
                <a:solidFill>
                  <a:srgbClr val="CCFFCC"/>
                </a:solidFill>
                <a:latin typeface="Calibri"/>
              </a:rPr>
              <a:t>GitHub: @mrhenrike | @Uniao-Geek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>
                <a:solidFill>
                  <a:srgbClr val="CCFFCC"/>
                </a:solidFill>
                <a:latin typeface="Calibri"/>
              </a:rPr>
              <a:t>Tool: github.com/mrhenrike/PrinterXPL-Forge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5760720"/>
            <a:ext cx="5577840" cy="594360"/>
          </a:xfrm>
          <a:prstGeom prst="rect">
            <a:avLst/>
          </a:prstGeom>
          <a:solidFill>
            <a:srgbClr val="004018"/>
          </a:solidFill>
          <a:ln w="19050">
            <a:solidFill>
              <a:srgbClr val="00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5833872"/>
            <a:ext cx="5394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0CC44"/>
                </a:solidFill>
                <a:latin typeface="Calibri"/>
              </a:rPr>
              <a:t>github.com/mrhenrike/PrinterXPL-Forge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565392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PrinterXPL-Forge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6565392"/>
            <a:ext cx="48737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André Henrique (@mrhenrike) | União Geek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1352" y="6565392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38 / 38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6528816"/>
            <a:ext cx="11823192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